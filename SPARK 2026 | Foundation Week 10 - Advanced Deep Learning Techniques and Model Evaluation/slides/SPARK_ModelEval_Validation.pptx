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66" d="100"/>
          <a:sy n="166" d="100"/>
        </p:scale>
        <p:origin x="200" y="2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344071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4E6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0"/>
            <a:ext cx="2743200" cy="5143500"/>
          </a:xfrm>
          <a:prstGeom prst="rect">
            <a:avLst/>
          </a:prstGeom>
          <a:solidFill>
            <a:srgbClr val="0A7FA8"/>
          </a:solidFill>
          <a:ln w="12700">
            <a:solidFill>
              <a:srgbClr val="0A7F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217920" y="0"/>
            <a:ext cx="201168" cy="5143500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55778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 Evaluation</a:t>
            </a:r>
            <a:endParaRPr lang="en-US" sz="3800" dirty="0"/>
          </a:p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&amp; Validation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457200" y="2651760"/>
            <a:ext cx="5577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i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Medical Image Analysis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457200" y="3291840"/>
            <a:ext cx="5577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AI Training for African Medical Imaging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Translation (SPARK) Academy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92240" y="91440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references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92240" y="1371600"/>
            <a:ext cx="2468880" cy="914400"/>
          </a:xfrm>
          <a:prstGeom prst="rect">
            <a:avLst/>
          </a:prstGeom>
          <a:solidFill>
            <a:srgbClr val="004E64"/>
          </a:solidFill>
          <a:ln w="12700">
            <a:solidFill>
              <a:srgbClr val="D0DE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492240" y="1371600"/>
            <a:ext cx="64008" cy="914400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629400" y="1417320"/>
            <a:ext cx="2286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0D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 Reloaded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0D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Maier-Hein et al., 2024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92240" y="2468880"/>
            <a:ext cx="2468880" cy="914400"/>
          </a:xfrm>
          <a:prstGeom prst="rect">
            <a:avLst/>
          </a:prstGeom>
          <a:solidFill>
            <a:srgbClr val="004E64"/>
          </a:solidFill>
          <a:ln w="12700">
            <a:solidFill>
              <a:srgbClr val="D0DE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6492240" y="2468880"/>
            <a:ext cx="64008" cy="914400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629400" y="2514600"/>
            <a:ext cx="2286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0D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Segmentation Loss Odyssey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0D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 et al., 2020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92240" y="3566160"/>
            <a:ext cx="2468880" cy="914400"/>
          </a:xfrm>
          <a:prstGeom prst="rect">
            <a:avLst/>
          </a:prstGeom>
          <a:solidFill>
            <a:srgbClr val="004E64"/>
          </a:solidFill>
          <a:ln w="12700">
            <a:solidFill>
              <a:srgbClr val="D0DE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492240" y="3566160"/>
            <a:ext cx="64008" cy="914400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629400" y="3611880"/>
            <a:ext cx="2286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0D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2404.12948 – Evaluation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0D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Frameworks (2024)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47091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facilitated with SPARK Academy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1920" y="548640"/>
            <a:ext cx="1280160" cy="12801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1520" y="1645920"/>
            <a:ext cx="76809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Is it Validation</a:t>
            </a:r>
            <a:endParaRPr lang="en-US" sz="4400" dirty="0"/>
          </a:p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 Evaluation?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914400" y="33375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i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why does the difference matter for African medical imaging AI?</a:t>
            </a:r>
            <a:endParaRPr lang="en-US" sz="1700" dirty="0"/>
          </a:p>
        </p:txBody>
      </p:sp>
      <p:sp>
        <p:nvSpPr>
          <p:cNvPr id="5" name="Text 2"/>
          <p:cNvSpPr/>
          <p:nvPr/>
        </p:nvSpPr>
        <p:spPr>
          <a:xfrm>
            <a:off x="1371600" y="406908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(Think about this before we define anything)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04E64"/>
          </a:solidFill>
          <a:ln w="12700">
            <a:solidFill>
              <a:srgbClr val="004E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54864"/>
            <a:ext cx="8503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Core Distinction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685800"/>
            <a:ext cx="402336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E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685800"/>
            <a:ext cx="4023360" cy="475488"/>
          </a:xfrm>
          <a:prstGeom prst="rect">
            <a:avLst/>
          </a:prstGeom>
          <a:solidFill>
            <a:srgbClr val="004E64"/>
          </a:solidFill>
          <a:ln w="12700">
            <a:solidFill>
              <a:srgbClr val="004E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20040" y="694944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VALIDATION</a:t>
            </a:r>
            <a:endParaRPr lang="en-US" sz="17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298448"/>
            <a:ext cx="411480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05840" y="1298448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4E6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Are we measuring the right thing?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11480" y="1828800"/>
            <a:ext cx="379476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the chosen metric reflect the clinical or scientific need?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 a high score on this metric mean the model is actually useful?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Asks: is the proxy measure the right proxy?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846320" y="685800"/>
            <a:ext cx="402336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E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4846320" y="685800"/>
            <a:ext cx="4023360" cy="475488"/>
          </a:xfrm>
          <a:prstGeom prst="rect">
            <a:avLst/>
          </a:prstGeom>
          <a:solidFill>
            <a:srgbClr val="0A7FA8"/>
          </a:solidFill>
          <a:ln w="12700">
            <a:solidFill>
              <a:srgbClr val="0A7F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4892040" y="694944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EVALUATION</a:t>
            </a:r>
            <a:endParaRPr lang="en-US" sz="1700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1298448"/>
            <a:ext cx="411480" cy="41148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532120" y="1298448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7F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do we measure it correctly?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4983480" y="1828800"/>
            <a:ext cx="379476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experimental protocol: splits, cross-validation, held-out sets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aggregation across patients, slices, institutions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Asks: are we applying the metric correctly?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04E64"/>
          </a:solidFill>
          <a:ln w="12700">
            <a:solidFill>
              <a:srgbClr val="004E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54864"/>
            <a:ext cx="8503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This Matters — The Metrics Reloaded Argument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i="1" dirty="0">
                <a:solidFill>
                  <a:srgbClr val="004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Flaws in ML algorithm validation are an underestimated global problem.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274320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E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32588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11480" y="1874520"/>
            <a:ext cx="2514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76F5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Wrong problem category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11480" y="2514600"/>
            <a:ext cx="2514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detection problems treated as segmentation — wrong metric family applied from the start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200400" y="1188720"/>
            <a:ext cx="274320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E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3280" y="1325880"/>
            <a:ext cx="457200" cy="4572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337560" y="1874520"/>
            <a:ext cx="2514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76F5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Poor metric selection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3337560" y="2514600"/>
            <a:ext cx="2514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Mathematical properties ignored — e.g., Dice on tiny structures gives meaningless numbers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6126480" y="1188720"/>
            <a:ext cx="274320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E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325880"/>
            <a:ext cx="457200" cy="4572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263640" y="1874520"/>
            <a:ext cx="2514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76F5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Poor metric application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6263640" y="2514600"/>
            <a:ext cx="2514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Ignoring hierarchical data structure (multi-site, multi-patient) when aggregating scores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365760" y="475488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Metrics Reloaded — Maier-Hein et al., Nature Methods, 2024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4E6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645920"/>
            <a:ext cx="8412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Part 1: What Are We Even Measuring?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365760" y="283464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Fingerprint Framework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04E64"/>
          </a:solidFill>
          <a:ln w="12700">
            <a:solidFill>
              <a:srgbClr val="004E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54864"/>
            <a:ext cx="8503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Problem Fingerprint — Diagnosis Before Prescription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choosing any metric, you must characterize your problem: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64008" cy="749808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11480" y="1051560"/>
            <a:ext cx="836676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E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94360" y="109728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4E6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Domain interest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017520" y="1097280"/>
            <a:ext cx="5623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a clinician actually care about? Lesion count? Margin accuracy? Volume?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4320" y="1984248"/>
            <a:ext cx="64008" cy="749808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11480" y="1984248"/>
            <a:ext cx="836676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E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94360" y="2029968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4E6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Target structure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017520" y="2029968"/>
            <a:ext cx="5623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structure large or small? One or many instances? Clear or fuzzy borders?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74320" y="2916936"/>
            <a:ext cx="64008" cy="749808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11480" y="2916936"/>
            <a:ext cx="836676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E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94360" y="2962656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4E6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Dataset properties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017520" y="2962656"/>
            <a:ext cx="5623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imbalance? Multi-site? Variable number of images per patient?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74320" y="3849624"/>
            <a:ext cx="64008" cy="749808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11480" y="3849624"/>
            <a:ext cx="836676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E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94360" y="3895344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4E6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Algorithm output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017520" y="3895344"/>
            <a:ext cx="5623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Probability map? Binary mask? Bounding box? Instance labels?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65760" y="475488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fingerprint is the input to metric selection — not an afterthought.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04E64"/>
          </a:solidFill>
          <a:ln w="12700">
            <a:solidFill>
              <a:srgbClr val="004E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54864"/>
            <a:ext cx="8503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Task Taxonomy — Match Your Task to Your Metric Family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685800"/>
            <a:ext cx="1965960" cy="594360"/>
          </a:xfrm>
          <a:prstGeom prst="rect">
            <a:avLst/>
          </a:prstGeom>
          <a:solidFill>
            <a:srgbClr val="004E64"/>
          </a:solidFill>
          <a:ln w="12700">
            <a:solidFill>
              <a:srgbClr val="004E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74320" y="713232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Image-level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Classification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325880"/>
            <a:ext cx="196596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E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65760" y="1417320"/>
            <a:ext cx="178308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Pathology present?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CXR: TB or not?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450592" y="685800"/>
            <a:ext cx="1965960" cy="594360"/>
          </a:xfrm>
          <a:prstGeom prst="rect">
            <a:avLst/>
          </a:prstGeom>
          <a:solidFill>
            <a:srgbClr val="0A7FA8"/>
          </a:solidFill>
          <a:ln w="12700">
            <a:solidFill>
              <a:srgbClr val="0A7F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450592" y="713232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Object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Detection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450592" y="1325880"/>
            <a:ext cx="196596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E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542032" y="1417320"/>
            <a:ext cx="178308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are the lesions?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many?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626864" y="685800"/>
            <a:ext cx="1965960" cy="594360"/>
          </a:xfrm>
          <a:prstGeom prst="rect">
            <a:avLst/>
          </a:prstGeom>
          <a:solidFill>
            <a:srgbClr val="0D7A5F"/>
          </a:solidFill>
          <a:ln w="12700">
            <a:solidFill>
              <a:srgbClr val="0D7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626864" y="713232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Semantic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Segmentation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626864" y="1325880"/>
            <a:ext cx="196596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E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718304" y="1417320"/>
            <a:ext cx="178308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pixels are tumor?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(per-pixel class)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803136" y="685800"/>
            <a:ext cx="1965960" cy="59436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803136" y="713232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Instance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Segmentation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803136" y="1325880"/>
            <a:ext cx="196596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E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894576" y="1417320"/>
            <a:ext cx="178308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each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lesion</a:t>
            </a:r>
            <a:endParaRPr lang="en-US" sz="1200" dirty="0"/>
          </a:p>
        </p:txBody>
      </p:sp>
      <p:pic>
        <p:nvPicPr>
          <p:cNvPr id="2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3429000"/>
            <a:ext cx="365760" cy="365760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777240" y="3456432"/>
            <a:ext cx="7955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mistake: framing a detection problem as segmentation — then wondering why the model "misses" objects it didn't localize.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365760" y="411480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 Reloaded covers all four task types with a structured decision framework.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4E6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645920"/>
            <a:ext cx="8412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Part 2: The Metrics Landscape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365760" y="283464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Region, Boundary, and Beyond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04E64"/>
          </a:solidFill>
          <a:ln w="12700">
            <a:solidFill>
              <a:srgbClr val="004E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54864"/>
            <a:ext cx="8503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Dice Problem — Ubiquitous but Routinely Misused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640080"/>
            <a:ext cx="8595360" cy="658368"/>
          </a:xfrm>
          <a:prstGeom prst="rect">
            <a:avLst/>
          </a:prstGeom>
          <a:solidFill>
            <a:srgbClr val="EEF4F7"/>
          </a:solidFill>
          <a:ln w="12700">
            <a:solidFill>
              <a:srgbClr val="D0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658368"/>
            <a:ext cx="8229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4E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Dice = 2|G ∩ S| / (|G| + |S|)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274320" y="1463040"/>
            <a:ext cx="42062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E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600200"/>
            <a:ext cx="347472" cy="34747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68680" y="1572768"/>
            <a:ext cx="3429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76F5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Inflated on large structures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11480" y="2057400"/>
            <a:ext cx="3931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model that predicts the whole brain as 'tumor' can still score high Dice on a large tumor — size matters enormously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709160" y="1463040"/>
            <a:ext cx="42062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E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1600200"/>
            <a:ext cx="347472" cy="34747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303520" y="1572768"/>
            <a:ext cx="3429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76F5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Unreliable on small structures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4846320" y="2057400"/>
            <a:ext cx="3931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voxel error on a 10-voxel lesion drops Dice by 18%. The metric becomes noisy and unstable at small scale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274320" y="3035808"/>
            <a:ext cx="42062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E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3172968"/>
            <a:ext cx="347472" cy="34747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68680" y="3145536"/>
            <a:ext cx="3429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76F5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Boundary-blind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411480" y="3630168"/>
            <a:ext cx="3931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Dice measures region overlap — it tells you nothing about contour accuracy. A model can look smooth on Dice and have rough jagged edges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4709160" y="3035808"/>
            <a:ext cx="42062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E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3172968"/>
            <a:ext cx="347472" cy="347472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5303520" y="3145536"/>
            <a:ext cx="3429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76F5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Aggregation matters enormously</a:t>
            </a:r>
            <a:endParaRPr lang="en-US" sz="1300" dirty="0"/>
          </a:p>
        </p:txBody>
      </p:sp>
      <p:sp>
        <p:nvSpPr>
          <p:cNvPr id="21" name="Text 15"/>
          <p:cNvSpPr/>
          <p:nvPr/>
        </p:nvSpPr>
        <p:spPr>
          <a:xfrm>
            <a:off x="4846320" y="3630168"/>
            <a:ext cx="3931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Patient-level vs slice-level vs voxel-level Dice are three different numbers. You must specify which you report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04E64"/>
          </a:solidFill>
          <a:ln w="12700">
            <a:solidFill>
              <a:srgbClr val="004E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54864"/>
            <a:ext cx="8503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Beyond Dice — Boundary &amp; Surface Metrics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boundary accuracy matters (radiotherapy planning, surgical margins), surface metrics are essential: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73152" cy="768096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11480" y="1097280"/>
            <a:ext cx="836676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E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48640" y="114300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76F5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Hausdorff Distance (HD)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794760" y="1143000"/>
            <a:ext cx="4846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distance from any point on ∂G to nearest point on ∂S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152704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Sensitive to outliers — one bad voxel dominates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2029968"/>
            <a:ext cx="73152" cy="768096"/>
          </a:xfrm>
          <a:prstGeom prst="rect">
            <a:avLst/>
          </a:prstGeom>
          <a:solidFill>
            <a:srgbClr val="0D7A5F"/>
          </a:solidFill>
          <a:ln w="12700">
            <a:solidFill>
              <a:srgbClr val="0D7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11480" y="2029968"/>
            <a:ext cx="836676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E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48640" y="2075688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7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HD95 (95th percentile HD)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794760" y="2075688"/>
            <a:ext cx="4846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95th percentile of surface distances — ignores worst 5%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48640" y="2459736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More robust; now the preferred standard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74320" y="2962656"/>
            <a:ext cx="73152" cy="768096"/>
          </a:xfrm>
          <a:prstGeom prst="rect">
            <a:avLst/>
          </a:prstGeom>
          <a:solidFill>
            <a:srgbClr val="0A7FA8"/>
          </a:solidFill>
          <a:ln w="12700">
            <a:solidFill>
              <a:srgbClr val="0A7F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11480" y="2962656"/>
            <a:ext cx="836676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E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48640" y="3008376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7F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Average Surface Distance (ASD)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794760" y="3008376"/>
            <a:ext cx="4846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of all point-to-surface distances across both boundaries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48640" y="3392424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Smooth average; good for overall boundary quality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74320" y="3895344"/>
            <a:ext cx="73152" cy="768096"/>
          </a:xfrm>
          <a:prstGeom prst="rect">
            <a:avLst/>
          </a:prstGeom>
          <a:solidFill>
            <a:srgbClr val="004E64"/>
          </a:solidFill>
          <a:ln w="12700">
            <a:solidFill>
              <a:srgbClr val="004E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11480" y="3895344"/>
            <a:ext cx="836676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E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48640" y="3941064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4E6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Normalized Surface Distance (NSD)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794760" y="3941064"/>
            <a:ext cx="4846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fraction of surface within tolerance τ of the other surface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48640" y="432511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Clinically interpretable — maps to acceptable margin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04E64"/>
          </a:solidFill>
          <a:ln w="12700">
            <a:solidFill>
              <a:srgbClr val="004E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54864"/>
            <a:ext cx="8503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Loss ≠ Metric — Two Separate Decisions</a:t>
            </a:r>
            <a:endParaRPr lang="en-US" sz="20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621792"/>
            <a:ext cx="457200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68680" y="640080"/>
            <a:ext cx="78638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4E6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you train with and what you test with are separate choices — and they should be.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274320" y="1188720"/>
            <a:ext cx="411480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E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274320" y="1188720"/>
            <a:ext cx="4114800" cy="457200"/>
          </a:xfrm>
          <a:prstGeom prst="rect">
            <a:avLst/>
          </a:prstGeom>
          <a:solidFill>
            <a:srgbClr val="004E64"/>
          </a:solidFill>
          <a:ln w="12700">
            <a:solidFill>
              <a:srgbClr val="004E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320040" y="1207008"/>
            <a:ext cx="4023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LOSS FUNCTIONS (training)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11480" y="173736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4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Distribution-based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2194560" y="173736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Cross-entropy, Focal, TopK, DPCE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411480" y="237744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4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Region-based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2194560" y="237744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Dice, IoU, Tversky, Generalized Dice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411480" y="301752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4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Boundary-based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2194560" y="301752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Boundary Loss, HD Loss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411480" y="365760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4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Compound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2194560" y="365760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Dice + CE, Exponential Log Loss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365760" y="438912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Segmentation Loss Odyssey (Ma, 2020)</a:t>
            </a:r>
            <a:endParaRPr lang="en-US" sz="900" dirty="0"/>
          </a:p>
          <a:p>
            <a:pPr marL="0" indent="0">
              <a:buNone/>
            </a:pPr>
            <a:r>
              <a:rPr lang="en-US" sz="9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github.com/JunMa11/SegLoss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4754880" y="1188720"/>
            <a:ext cx="411480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E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4754880" y="1188720"/>
            <a:ext cx="4114800" cy="457200"/>
          </a:xfrm>
          <a:prstGeom prst="rect">
            <a:avLst/>
          </a:prstGeom>
          <a:solidFill>
            <a:srgbClr val="0A7FA8"/>
          </a:solidFill>
          <a:ln w="12700">
            <a:solidFill>
              <a:srgbClr val="0A7F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4800600" y="1207008"/>
            <a:ext cx="4023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EVAL METRICS (testing)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4892040" y="173736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7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 overlap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6675120" y="173736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Dice, IoU, Precision, Recall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4892040" y="237744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7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Boundary accuracy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6675120" y="237744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HD, HD95, ASD, NSD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4892040" y="301752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7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6675120" y="301752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AUC, F1, accuracy, calibration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4892040" y="365760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7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6675120" y="365760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AP, mAP, panoptic quality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4846320" y="4315968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metric should reflect the domain interest,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just match the loss function.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04E6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645920"/>
            <a:ext cx="8412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Part 3: Evaluation Protocol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365760" y="283464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Doing the Measurement Right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04E64"/>
          </a:solidFill>
          <a:ln w="12700">
            <a:solidFill>
              <a:srgbClr val="004E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54864"/>
            <a:ext cx="8503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Common Evaluation Protocol Pitfalls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685800"/>
            <a:ext cx="420624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E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685800"/>
            <a:ext cx="64008" cy="1261872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758952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76F5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leakage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143000"/>
            <a:ext cx="3886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Normalizing or augmenting on the full dataset before splitting — your test set has seen the training distribution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709160" y="685800"/>
            <a:ext cx="420624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E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709160" y="685800"/>
            <a:ext cx="64008" cy="1261872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892040" y="758952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76F5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Optimistic test set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92040" y="1143000"/>
            <a:ext cx="3886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Hyperparameter tuning on the held-out test set. It should be truly untouched until final reporting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274320" y="2103120"/>
            <a:ext cx="420624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E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274320" y="2103120"/>
            <a:ext cx="64008" cy="1261872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57200" y="2176272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76F5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Wrong aggregation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2560320"/>
            <a:ext cx="3886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Averaging Dice across all slices instead of per patient — inflates scores for patients with many slices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709160" y="2103120"/>
            <a:ext cx="420624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E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709160" y="2103120"/>
            <a:ext cx="64008" cy="1261872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892040" y="2176272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76F5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 confidence intervals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92040" y="2560320"/>
            <a:ext cx="3886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number without error bars tells you nothing about reliability. Use bootstrap or cross-validation CIs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274320" y="3520440"/>
            <a:ext cx="420624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E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274320" y="3520440"/>
            <a:ext cx="64008" cy="1261872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57200" y="3593592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76F5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Single-dataset evaluation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57200" y="3977640"/>
            <a:ext cx="3886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dataset, one institution. Especially dangerous — models can memorize scanner artifacts, not anatomy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709160" y="3520440"/>
            <a:ext cx="420624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E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709160" y="3520440"/>
            <a:ext cx="64008" cy="1261872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892040" y="3593592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76F5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Class-imbalanced mean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892040" y="3977640"/>
            <a:ext cx="3886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mean Dice across all classes when one class has 10x more pixels than another — weighted mean is more honest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04E64"/>
          </a:solidFill>
          <a:ln w="12700">
            <a:solidFill>
              <a:srgbClr val="004E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54864"/>
            <a:ext cx="8503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African Context — Distribution Shift is Not Optional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594360"/>
            <a:ext cx="8595360" cy="1143000"/>
          </a:xfrm>
          <a:prstGeom prst="rect">
            <a:avLst/>
          </a:prstGeom>
          <a:solidFill>
            <a:srgbClr val="FFF3E0"/>
          </a:solidFill>
          <a:ln w="19050">
            <a:solidFill>
              <a:srgbClr val="E76F5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49808"/>
            <a:ext cx="438912" cy="4389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05840" y="658368"/>
            <a:ext cx="77266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trained on Western datasets and evaluated with Dice alone may look excellent on paper — and fail on African patient populations.</a:t>
            </a:r>
            <a:endParaRPr lang="en-US" sz="14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1920240"/>
            <a:ext cx="347472" cy="34747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77240" y="1920240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Scanner heterogeneity: Low-field MRI, older CT hardware, different protocols — distribution shift is real and underreported</a:t>
            </a:r>
            <a:endParaRPr lang="en-US" sz="12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2651760"/>
            <a:ext cx="347472" cy="347472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77240" y="2651760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 prevalence differences: TB, malaria, sickle cell comorbidities — models may have never seen these phenotypes</a:t>
            </a:r>
            <a:endParaRPr lang="en-US" sz="125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383280"/>
            <a:ext cx="347472" cy="347472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777240" y="3383280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Annotation scarcity: Fewer labeled African medical imaging datasets means less external validation data exists</a:t>
            </a:r>
            <a:endParaRPr lang="en-US" sz="125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4114800"/>
            <a:ext cx="347472" cy="347472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777240" y="4114800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do: Always evaluate on data from your target population. Report performance disaggregated by site, scanner, and demographics when possible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04E6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645920"/>
            <a:ext cx="8412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Part 4: Tools &amp; Frameworks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365760" y="283464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Putting Good Practice Into Code</a:t>
            </a:r>
            <a:endParaRPr lang="en-US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04E64"/>
          </a:solidFill>
          <a:ln w="12700">
            <a:solidFill>
              <a:srgbClr val="004E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54864"/>
            <a:ext cx="8503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Recommended Tools &amp; Libraries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28600" y="658368"/>
            <a:ext cx="27889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E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28600" y="658368"/>
            <a:ext cx="2788920" cy="411480"/>
          </a:xfrm>
          <a:prstGeom prst="rect">
            <a:avLst/>
          </a:prstGeom>
          <a:solidFill>
            <a:srgbClr val="004E64"/>
          </a:solidFill>
          <a:ln w="12700">
            <a:solidFill>
              <a:srgbClr val="004E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20040" y="68580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MONAI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20040" y="1161288"/>
            <a:ext cx="2606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monai.metrics — Dice, HD, ASD, confusion matrix, all GPU-friendly. The medical imaging standard.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0040" y="2231136"/>
            <a:ext cx="2606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004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monai.io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172968" y="658368"/>
            <a:ext cx="27889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E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172968" y="658368"/>
            <a:ext cx="2788920" cy="411480"/>
          </a:xfrm>
          <a:prstGeom prst="rect">
            <a:avLst/>
          </a:prstGeom>
          <a:solidFill>
            <a:srgbClr val="0A7FA8"/>
          </a:solidFill>
          <a:ln w="12700">
            <a:solidFill>
              <a:srgbClr val="0A7F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264408" y="68580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surface-distance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264408" y="1161288"/>
            <a:ext cx="2606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DeepMind's surface distance library — HD, HD95, ASD, NSD. Simple and reliable.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264408" y="2231136"/>
            <a:ext cx="2606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0A7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github.com/google-deepmind/surface-distance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117336" y="658368"/>
            <a:ext cx="27889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E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117336" y="658368"/>
            <a:ext cx="2788920" cy="411480"/>
          </a:xfrm>
          <a:prstGeom prst="rect">
            <a:avLst/>
          </a:prstGeom>
          <a:solidFill>
            <a:srgbClr val="0D7A5F"/>
          </a:solidFill>
          <a:ln w="12700">
            <a:solidFill>
              <a:srgbClr val="0D7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208776" y="68580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Kornia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208776" y="1161288"/>
            <a:ext cx="2606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kornia.metrics — Image-level metrics, useful for classification and detection tasks.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208776" y="2231136"/>
            <a:ext cx="2606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0D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kornia.org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28600" y="2670048"/>
            <a:ext cx="27889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E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228600" y="2670048"/>
            <a:ext cx="2788920" cy="41148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20040" y="269748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Metrics Reloaded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20040" y="3172968"/>
            <a:ext cx="2606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online tool — input your problem fingerprint, get metric recommendations.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20040" y="4242816"/>
            <a:ext cx="2606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metrics-reloaded.eu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172968" y="2670048"/>
            <a:ext cx="27889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E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3172968" y="2670048"/>
            <a:ext cx="2788920" cy="411480"/>
          </a:xfrm>
          <a:prstGeom prst="rect">
            <a:avLst/>
          </a:prstGeom>
          <a:solidFill>
            <a:srgbClr val="6A0F49"/>
          </a:solidFill>
          <a:ln w="12700">
            <a:solidFill>
              <a:srgbClr val="6A0F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3264408" y="269748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medpy.metric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264408" y="3172968"/>
            <a:ext cx="2606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 Python library — Dice, HD, Ravd. Older but battle-tested for quick scripts.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264408" y="4242816"/>
            <a:ext cx="2606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A0F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github.com/loli/medpy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117336" y="2670048"/>
            <a:ext cx="27889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E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6117336" y="2670048"/>
            <a:ext cx="2788920" cy="411480"/>
          </a:xfrm>
          <a:prstGeom prst="rect">
            <a:avLst/>
          </a:prstGeom>
          <a:solidFill>
            <a:srgbClr val="F7701D"/>
          </a:solidFill>
          <a:ln w="12700">
            <a:solidFill>
              <a:srgbClr val="F7701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208776" y="269748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scikit-learn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208776" y="3172968"/>
            <a:ext cx="2606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metrics, calibration curves, ROC/AUC — the general ML baseline.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208776" y="4242816"/>
            <a:ext cx="2606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F770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scikit-learn.org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04E64"/>
          </a:solidFill>
          <a:ln w="12700">
            <a:solidFill>
              <a:srgbClr val="004E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54864"/>
            <a:ext cx="8503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Frameworks &amp; Reading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658368"/>
            <a:ext cx="859536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E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658368"/>
            <a:ext cx="73152" cy="1261872"/>
          </a:xfrm>
          <a:prstGeom prst="rect">
            <a:avLst/>
          </a:prstGeom>
          <a:solidFill>
            <a:srgbClr val="004E64"/>
          </a:solidFill>
          <a:ln w="12700">
            <a:solidFill>
              <a:srgbClr val="004E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75488" y="73152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4E6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Metrics Reloaded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75488" y="1133856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Maier-Hein et al., Nature Methods, 2024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75488" y="1408176"/>
            <a:ext cx="6675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comprehensive metric selection framework. Covers all task types. Includes an interactive online tool at metrics-reloaded.eu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7223760" y="73152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004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arxiv.org/abs/2206.01653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74320" y="2048256"/>
            <a:ext cx="859536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E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74320" y="2048256"/>
            <a:ext cx="73152" cy="1261872"/>
          </a:xfrm>
          <a:prstGeom prst="rect">
            <a:avLst/>
          </a:prstGeom>
          <a:solidFill>
            <a:srgbClr val="0D7A5F"/>
          </a:solidFill>
          <a:ln w="12700">
            <a:solidFill>
              <a:srgbClr val="0D7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75488" y="2121408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7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Segmentation Loss Odyssey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75488" y="2523744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Ma, MICCAI Workshop, 2020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75488" y="2798064"/>
            <a:ext cx="6675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Taxonomy of segmentation loss functions. Covers distribution, region, boundary, and compound losses with PyTorch implementations.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7223760" y="2121408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0D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arxiv.org/abs/2005.13449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74320" y="3438144"/>
            <a:ext cx="859536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E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274320" y="3438144"/>
            <a:ext cx="73152" cy="1261872"/>
          </a:xfrm>
          <a:prstGeom prst="rect">
            <a:avLst/>
          </a:prstGeom>
          <a:solidFill>
            <a:srgbClr val="0A7FA8"/>
          </a:solidFill>
          <a:ln w="12700">
            <a:solidFill>
              <a:srgbClr val="0A7F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75488" y="3511296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7F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Common Pitfalls in Eval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75488" y="3913632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arxiv 2404.12948, 2024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75488" y="4187952"/>
            <a:ext cx="6675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guide to evaluation pitfalls in medical image analysis. Complements Metrics Reloaded with protocol-level guidance.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7223760" y="3511296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0A7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arxiv.org/abs/2404.12948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04E6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228600"/>
            <a:ext cx="8321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Takeaways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329184" cy="329184"/>
          </a:xfrm>
          <a:prstGeom prst="ellipse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65760" y="96012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960120"/>
            <a:ext cx="7955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asks: are you measuring the right thing? Evaluation asks: are you measuring it correctly?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65760" y="1618488"/>
            <a:ext cx="329184" cy="329184"/>
          </a:xfrm>
          <a:prstGeom prst="ellipse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65760" y="161848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1618488"/>
            <a:ext cx="7955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Problem Fingerprint before choosing any metric — domain interest, structure, dataset, output type.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65760" y="2276856"/>
            <a:ext cx="329184" cy="329184"/>
          </a:xfrm>
          <a:prstGeom prst="ellipse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65760" y="227685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22960" y="2276856"/>
            <a:ext cx="7955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Dice is useful but dangerous on small structures, boundary-critical tasks, and without careful aggregation.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65760" y="2935224"/>
            <a:ext cx="329184" cy="329184"/>
          </a:xfrm>
          <a:prstGeom prst="ellipse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65760" y="293522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22960" y="2935224"/>
            <a:ext cx="7955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loss function and your evaluation metric are separate choices — don't conflate them.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365760" y="3593592"/>
            <a:ext cx="329184" cy="329184"/>
          </a:xfrm>
          <a:prstGeom prst="ellipse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65760" y="359359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22960" y="3593592"/>
            <a:ext cx="7955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 metrics (HD95, ASD, NSD) are essential for boundary-sensitive clinical applications.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22960" y="4251960"/>
            <a:ext cx="7955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4E64"/>
          </a:solidFill>
          <a:ln w="12700">
            <a:solidFill>
              <a:srgbClr val="004E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SPARK Academy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14400" y="1188720"/>
            <a:ext cx="7315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E9C46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Questions &amp; Discussion</a:t>
            </a:r>
            <a:endParaRPr lang="en-US" sz="42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0" y="2377440"/>
            <a:ext cx="914400" cy="9144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35204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 Reloaded online tool  </a:t>
            </a: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metrics-reloaded.eu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914400" y="39776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MONAI  </a:t>
            </a: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monai.io  |  </a:t>
            </a:r>
            <a:r>
              <a:rPr lang="en-US" sz="1400" b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SegLoss  </a:t>
            </a: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github.com/JunMa11/SegLoss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914400" y="45262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science begins with honest measurement.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</TotalTime>
  <Words>1463</Words>
  <Application>Microsoft Macintosh PowerPoint</Application>
  <PresentationFormat>On-screen Show (16:9)</PresentationFormat>
  <Paragraphs>209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Arial</vt:lpstr>
      <vt:lpstr>Calibri</vt:lpstr>
      <vt:lpstr>Consolas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Model Evaluation &amp; Validation – SPARK Academy</dc:title>
  <dc:subject>PptxGenJS Presentation</dc:subject>
  <dc:creator>PptxGenJS</dc:creator>
  <cp:lastModifiedBy>Toufiq Musah</cp:lastModifiedBy>
  <cp:revision>2</cp:revision>
  <dcterms:created xsi:type="dcterms:W3CDTF">2026-04-24T21:06:35Z</dcterms:created>
  <dcterms:modified xsi:type="dcterms:W3CDTF">2026-04-25T15:03:23Z</dcterms:modified>
</cp:coreProperties>
</file>